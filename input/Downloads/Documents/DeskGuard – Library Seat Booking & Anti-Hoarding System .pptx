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4788-5E6C-8849-ED55-2E7E0287E3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AB2B39-B9D2-79FC-D224-E81C6C698D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C161E7-73C7-51BD-FB41-EE9BBFE416B5}"/>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5" name="Footer Placeholder 4">
            <a:extLst>
              <a:ext uri="{FF2B5EF4-FFF2-40B4-BE49-F238E27FC236}">
                <a16:creationId xmlns:a16="http://schemas.microsoft.com/office/drawing/2014/main" id="{347756A5-E194-DD94-68A5-598D2F316C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4F221C-56BD-C512-A33E-D92D2F95CF82}"/>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4239854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CAA45-866D-51D5-D1E1-B56CC81271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01313E-149B-C525-0D1C-891104A932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6DA823-F0E6-BDD7-8CE3-821E1254E660}"/>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5" name="Footer Placeholder 4">
            <a:extLst>
              <a:ext uri="{FF2B5EF4-FFF2-40B4-BE49-F238E27FC236}">
                <a16:creationId xmlns:a16="http://schemas.microsoft.com/office/drawing/2014/main" id="{4B4BE7C0-4D61-3139-AB91-17C4FA9EB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ECFE03-6CEF-988A-E78B-0CBAEA193B75}"/>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339282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2914-DE75-382B-DF14-F1BEB4D4D5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AAAE6A-32B3-A8D8-CB77-1EFA5E4364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7876BB-FB0C-3B8E-F28B-B97024E92EEC}"/>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5" name="Footer Placeholder 4">
            <a:extLst>
              <a:ext uri="{FF2B5EF4-FFF2-40B4-BE49-F238E27FC236}">
                <a16:creationId xmlns:a16="http://schemas.microsoft.com/office/drawing/2014/main" id="{17293BC3-897B-CB54-4291-AA3EBCE38F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F4BADC-2E58-D405-F347-C737BC03E217}"/>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3273080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CD5BC-058F-53E3-80C8-A2F522DEE4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27D65F-C21E-9AB8-F578-B2F430E0FE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67609C-6AA3-D024-E1B3-E79600CE6F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60CC6F-9346-0D87-7EB9-4B33DA9C1CDA}"/>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6" name="Footer Placeholder 5">
            <a:extLst>
              <a:ext uri="{FF2B5EF4-FFF2-40B4-BE49-F238E27FC236}">
                <a16:creationId xmlns:a16="http://schemas.microsoft.com/office/drawing/2014/main" id="{9DEE066D-F59D-58BA-8F23-DFFCDD4E08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36883D-E34E-FFA5-153D-5ED5D8172CB3}"/>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2691361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1DA8B-3711-2002-B2EF-CBC9C7C227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1173EB-DDA1-23D6-F51F-767E088368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21F97C-4B47-5221-916A-3A13AB0A8A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A7D405-6AB6-B609-5952-8A87999758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627A3A-2CFC-A87F-9EC8-359FA598F6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50BE53-EC0A-AF3E-5DC3-99869CF567F1}"/>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8" name="Footer Placeholder 7">
            <a:extLst>
              <a:ext uri="{FF2B5EF4-FFF2-40B4-BE49-F238E27FC236}">
                <a16:creationId xmlns:a16="http://schemas.microsoft.com/office/drawing/2014/main" id="{F6CD020A-4AA9-51C2-0815-92CA6ABCDE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D3B525-C2C4-20C7-4D3D-F2AA611E08C4}"/>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3740782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1326D-F257-D4AE-FA79-7DDA1F8F76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0D8773-F7FF-080C-6F0B-74A01EB50C2F}"/>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4" name="Footer Placeholder 3">
            <a:extLst>
              <a:ext uri="{FF2B5EF4-FFF2-40B4-BE49-F238E27FC236}">
                <a16:creationId xmlns:a16="http://schemas.microsoft.com/office/drawing/2014/main" id="{383C21CD-ED96-7F21-41BD-8D430B4787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703AB3-D1F9-585B-1B55-6A8AED23DC2C}"/>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2568683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A0FED7-D61B-C453-21A6-F53A3FEAA049}"/>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3" name="Footer Placeholder 2">
            <a:extLst>
              <a:ext uri="{FF2B5EF4-FFF2-40B4-BE49-F238E27FC236}">
                <a16:creationId xmlns:a16="http://schemas.microsoft.com/office/drawing/2014/main" id="{A17342E7-6B2B-AC3B-6360-27017F438E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B263E9-017D-CFD4-FFA5-2CC434A01A8E}"/>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3611485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D6B58-EEAA-A5F0-C3F8-49063289A5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8A8F71-C08F-BFAE-8DA5-EA1899CEE1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5E575E-397C-3B93-67D3-73B60474BD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8FD4FA-C842-D73E-45C9-F8347CE63464}"/>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6" name="Footer Placeholder 5">
            <a:extLst>
              <a:ext uri="{FF2B5EF4-FFF2-40B4-BE49-F238E27FC236}">
                <a16:creationId xmlns:a16="http://schemas.microsoft.com/office/drawing/2014/main" id="{6BD4D523-0D2B-83F1-F0B3-8A7728C8D5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024F2D-9D83-2941-F126-4D986B3FF1B9}"/>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2886721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FA94-C9CE-F2BA-6D82-61A19AF410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348E3C-3DD6-1686-E21D-FE5A6D87D0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8FB256-10A6-7338-F105-D665AEB2A9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F5AF4A-A1F1-D945-EFA7-EC399590C974}"/>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6" name="Footer Placeholder 5">
            <a:extLst>
              <a:ext uri="{FF2B5EF4-FFF2-40B4-BE49-F238E27FC236}">
                <a16:creationId xmlns:a16="http://schemas.microsoft.com/office/drawing/2014/main" id="{59CDBDB3-423B-E04A-C420-4ECE0C6DB4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D662F1-AC90-5A86-8867-031081F53B77}"/>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10415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95BCB-F8C2-EF23-CB67-EBD2E9FE35F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2408D3-BBE1-B594-69FF-FD7A67BC62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77A79-EFE7-712D-C091-7730D68E4ADC}"/>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5" name="Footer Placeholder 4">
            <a:extLst>
              <a:ext uri="{FF2B5EF4-FFF2-40B4-BE49-F238E27FC236}">
                <a16:creationId xmlns:a16="http://schemas.microsoft.com/office/drawing/2014/main" id="{B45092CB-C9BE-6F13-A595-DCCC5E9AD1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AF7CA-BFAA-82DE-AA93-84BAA093C8A2}"/>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3304619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7DDC28-5BC3-D968-CB3A-38D35025D8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F2BD49-A6E9-0033-FDD3-E2E4DBF22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0F7E88-6CAB-A531-DD4F-1A2F6DCC812C}"/>
              </a:ext>
            </a:extLst>
          </p:cNvPr>
          <p:cNvSpPr>
            <a:spLocks noGrp="1"/>
          </p:cNvSpPr>
          <p:nvPr>
            <p:ph type="dt" sz="half" idx="10"/>
          </p:nvPr>
        </p:nvSpPr>
        <p:spPr/>
        <p:txBody>
          <a:bodyPr/>
          <a:lstStyle/>
          <a:p>
            <a:fld id="{1436C08C-2131-4203-9D80-9EC469018A94}" type="datetimeFigureOut">
              <a:rPr lang="en-IN" smtClean="0"/>
              <a:t>13-06-2026</a:t>
            </a:fld>
            <a:endParaRPr lang="en-IN"/>
          </a:p>
        </p:txBody>
      </p:sp>
      <p:sp>
        <p:nvSpPr>
          <p:cNvPr id="5" name="Footer Placeholder 4">
            <a:extLst>
              <a:ext uri="{FF2B5EF4-FFF2-40B4-BE49-F238E27FC236}">
                <a16:creationId xmlns:a16="http://schemas.microsoft.com/office/drawing/2014/main" id="{2F7A9F09-CAB1-02BF-8366-4FD3BF71DF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D8B294-5F3D-1D56-B334-1BE5B2F8F3CA}"/>
              </a:ext>
            </a:extLst>
          </p:cNvPr>
          <p:cNvSpPr>
            <a:spLocks noGrp="1"/>
          </p:cNvSpPr>
          <p:nvPr>
            <p:ph type="sldNum" sz="quarter" idx="12"/>
          </p:nvPr>
        </p:nvSpPr>
        <p:spPr/>
        <p:txBody>
          <a:bodyPr/>
          <a:lstStyle/>
          <a:p>
            <a:fld id="{3E8A95D3-7A73-4DA8-8624-10474B3B1B82}" type="slidenum">
              <a:rPr lang="en-IN" smtClean="0"/>
              <a:t>‹#›</a:t>
            </a:fld>
            <a:endParaRPr lang="en-IN"/>
          </a:p>
        </p:txBody>
      </p:sp>
    </p:spTree>
    <p:extLst>
      <p:ext uri="{BB962C8B-B14F-4D97-AF65-F5344CB8AC3E}">
        <p14:creationId xmlns:p14="http://schemas.microsoft.com/office/powerpoint/2010/main" val="262600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188BD2-7666-A029-CDCA-958B2EE0D2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10B210-8A60-C2E3-B4B6-00DAB6514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96202F-1D89-F214-AF20-3CAF0CB9D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36C08C-2131-4203-9D80-9EC469018A94}" type="datetimeFigureOut">
              <a:rPr lang="en-IN" smtClean="0"/>
              <a:t>13-06-2026</a:t>
            </a:fld>
            <a:endParaRPr lang="en-IN"/>
          </a:p>
        </p:txBody>
      </p:sp>
      <p:sp>
        <p:nvSpPr>
          <p:cNvPr id="5" name="Footer Placeholder 4">
            <a:extLst>
              <a:ext uri="{FF2B5EF4-FFF2-40B4-BE49-F238E27FC236}">
                <a16:creationId xmlns:a16="http://schemas.microsoft.com/office/drawing/2014/main" id="{C5E3D60D-39E6-B87E-30D0-903A6C79D1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A905855-26B8-D14F-8C02-4D5660820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8A95D3-7A73-4DA8-8624-10474B3B1B82}" type="slidenum">
              <a:rPr lang="en-IN" smtClean="0"/>
              <a:t>‹#›</a:t>
            </a:fld>
            <a:endParaRPr lang="en-IN"/>
          </a:p>
        </p:txBody>
      </p:sp>
    </p:spTree>
    <p:extLst>
      <p:ext uri="{BB962C8B-B14F-4D97-AF65-F5344CB8AC3E}">
        <p14:creationId xmlns:p14="http://schemas.microsoft.com/office/powerpoint/2010/main" val="1149058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figma.com/make/q3V0np8NeIF1amnQLNtcVe/DeskGuard-UI-Prototype?t=qija61A24eOdUI9S-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FE446-2476-014C-FFE7-A07DE92B95A0}"/>
              </a:ext>
            </a:extLst>
          </p:cNvPr>
          <p:cNvSpPr>
            <a:spLocks noGrp="1"/>
          </p:cNvSpPr>
          <p:nvPr>
            <p:ph type="ctrTitle"/>
          </p:nvPr>
        </p:nvSpPr>
        <p:spPr>
          <a:xfrm>
            <a:off x="1096735" y="457880"/>
            <a:ext cx="9998529" cy="2971120"/>
          </a:xfrm>
        </p:spPr>
        <p:txBody>
          <a:bodyPr>
            <a:normAutofit/>
          </a:bodyPr>
          <a:lstStyle/>
          <a:p>
            <a:r>
              <a:rPr lang="en-US" dirty="0" err="1"/>
              <a:t>DeskGuard</a:t>
            </a:r>
            <a:r>
              <a:rPr lang="en-US" dirty="0"/>
              <a:t> – Library Seat Booking &amp; Anti-Hoarding System</a:t>
            </a:r>
            <a:endParaRPr lang="en-IN" dirty="0"/>
          </a:p>
        </p:txBody>
      </p:sp>
      <p:sp>
        <p:nvSpPr>
          <p:cNvPr id="5" name="Subtitle 4">
            <a:extLst>
              <a:ext uri="{FF2B5EF4-FFF2-40B4-BE49-F238E27FC236}">
                <a16:creationId xmlns:a16="http://schemas.microsoft.com/office/drawing/2014/main" id="{E7DE4B96-256A-6CEA-C74A-1494946B5280}"/>
              </a:ext>
            </a:extLst>
          </p:cNvPr>
          <p:cNvSpPr>
            <a:spLocks noGrp="1"/>
          </p:cNvSpPr>
          <p:nvPr>
            <p:ph type="subTitle" idx="1"/>
          </p:nvPr>
        </p:nvSpPr>
        <p:spPr>
          <a:xfrm>
            <a:off x="1524000" y="3602037"/>
            <a:ext cx="9144000" cy="2096633"/>
          </a:xfrm>
        </p:spPr>
        <p:txBody>
          <a:bodyPr>
            <a:normAutofit/>
          </a:bodyPr>
          <a:lstStyle/>
          <a:p>
            <a:r>
              <a:rPr lang="en-US" dirty="0"/>
              <a:t>Desk guard</a:t>
            </a:r>
          </a:p>
          <a:p>
            <a:r>
              <a:rPr lang="en-US" dirty="0"/>
              <a:t>Library seat booking and Anti-Hording System</a:t>
            </a:r>
          </a:p>
          <a:p>
            <a:r>
              <a:rPr lang="en-US" dirty="0"/>
              <a:t>Hackathon: </a:t>
            </a:r>
            <a:r>
              <a:rPr lang="en-US" dirty="0" err="1"/>
              <a:t>WebForge</a:t>
            </a:r>
            <a:endParaRPr lang="en-US" dirty="0"/>
          </a:p>
          <a:p>
            <a:r>
              <a:rPr lang="en-US" dirty="0" err="1"/>
              <a:t>Name:Vaishnavi</a:t>
            </a:r>
            <a:r>
              <a:rPr lang="en-US" dirty="0"/>
              <a:t> Vinod Bagal</a:t>
            </a:r>
          </a:p>
          <a:p>
            <a:endParaRPr lang="en-US" dirty="0"/>
          </a:p>
        </p:txBody>
      </p:sp>
    </p:spTree>
    <p:extLst>
      <p:ext uri="{BB962C8B-B14F-4D97-AF65-F5344CB8AC3E}">
        <p14:creationId xmlns:p14="http://schemas.microsoft.com/office/powerpoint/2010/main" val="827776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95918-44D0-89E0-F402-4D75B4BF342C}"/>
              </a:ext>
            </a:extLst>
          </p:cNvPr>
          <p:cNvSpPr>
            <a:spLocks noGrp="1"/>
          </p:cNvSpPr>
          <p:nvPr>
            <p:ph type="title"/>
          </p:nvPr>
        </p:nvSpPr>
        <p:spPr/>
        <p:txBody>
          <a:bodyPr/>
          <a:lstStyle/>
          <a:p>
            <a:r>
              <a:rPr lang="en-IN" dirty="0"/>
              <a:t>Problem Statement and solution</a:t>
            </a:r>
          </a:p>
        </p:txBody>
      </p:sp>
      <p:sp>
        <p:nvSpPr>
          <p:cNvPr id="3" name="Content Placeholder 2">
            <a:extLst>
              <a:ext uri="{FF2B5EF4-FFF2-40B4-BE49-F238E27FC236}">
                <a16:creationId xmlns:a16="http://schemas.microsoft.com/office/drawing/2014/main" id="{4C20A415-D40C-9359-BC59-2AF7473737D2}"/>
              </a:ext>
            </a:extLst>
          </p:cNvPr>
          <p:cNvSpPr>
            <a:spLocks noGrp="1"/>
          </p:cNvSpPr>
          <p:nvPr>
            <p:ph idx="1"/>
          </p:nvPr>
        </p:nvSpPr>
        <p:spPr/>
        <p:txBody>
          <a:bodyPr>
            <a:normAutofit fontScale="70000" lnSpcReduction="20000"/>
          </a:bodyPr>
          <a:lstStyle/>
          <a:p>
            <a:pPr>
              <a:buFont typeface="Wingdings" panose="05000000000000000000" pitchFamily="2" charset="2"/>
              <a:buChar char="v"/>
            </a:pPr>
            <a:r>
              <a:rPr lang="en-IN" sz="2900" b="1" dirty="0"/>
              <a:t>Existing Problem</a:t>
            </a:r>
          </a:p>
          <a:p>
            <a:r>
              <a:rPr lang="en-IN" sz="2700" dirty="0"/>
              <a:t>In libraries, students often reserve desks by leaving their bags and belongings while being absent for long periods. This creates unfair desk usage and prevents other students from accessing available study spaces. Currently, there is no efficient system to track desk occupancy and manage temporary absences.</a:t>
            </a:r>
            <a:br>
              <a:rPr lang="en-IN" sz="2700" dirty="0"/>
            </a:br>
            <a:endParaRPr lang="en-IN" sz="2700" dirty="0"/>
          </a:p>
          <a:p>
            <a:pPr>
              <a:buFont typeface="Wingdings" panose="05000000000000000000" pitchFamily="2" charset="2"/>
              <a:buChar char="v"/>
            </a:pPr>
            <a:r>
              <a:rPr lang="en-IN" b="1" dirty="0"/>
              <a:t>Proposed Solution</a:t>
            </a:r>
          </a:p>
          <a:p>
            <a:r>
              <a:rPr lang="en-IN" sz="2400" dirty="0" err="1"/>
              <a:t>DeskGuard</a:t>
            </a:r>
            <a:r>
              <a:rPr lang="en-IN" sz="2400" dirty="0"/>
              <a:t> is a smart library desk management system designed to ensure fair and efficient desk usage.</a:t>
            </a:r>
          </a:p>
          <a:p>
            <a:r>
              <a:rPr lang="en-IN" sz="2400" dirty="0"/>
              <a:t>The system provides:</a:t>
            </a:r>
          </a:p>
          <a:p>
            <a:r>
              <a:rPr lang="en-IN" sz="2400" dirty="0"/>
              <a:t>Real-time desk availability monitoring.</a:t>
            </a:r>
          </a:p>
          <a:p>
            <a:r>
              <a:rPr lang="en-IN" sz="2400" dirty="0"/>
              <a:t>QR-code based desk check-in.</a:t>
            </a:r>
          </a:p>
          <a:p>
            <a:r>
              <a:rPr lang="en-IN" sz="2400" dirty="0"/>
              <a:t>Temporary "Away Mode" for short breaks.</a:t>
            </a:r>
          </a:p>
          <a:p>
            <a:r>
              <a:rPr lang="en-IN" sz="2400" dirty="0"/>
              <a:t>Automatic desk release after inactivity.</a:t>
            </a:r>
          </a:p>
          <a:p>
            <a:r>
              <a:rPr lang="en-IN" sz="2400" dirty="0"/>
              <a:t>Librarian dashboard for monitoring and manual intervention.</a:t>
            </a:r>
          </a:p>
          <a:p>
            <a:r>
              <a:rPr lang="en-IN" sz="2400" dirty="0" err="1"/>
              <a:t>DeskGuard</a:t>
            </a:r>
            <a:r>
              <a:rPr lang="en-IN" sz="2400" dirty="0"/>
              <a:t> helps maximize library utilization while preventing desk hoarding.</a:t>
            </a:r>
          </a:p>
          <a:p>
            <a:endParaRPr lang="en-IN" dirty="0"/>
          </a:p>
        </p:txBody>
      </p:sp>
    </p:spTree>
    <p:extLst>
      <p:ext uri="{BB962C8B-B14F-4D97-AF65-F5344CB8AC3E}">
        <p14:creationId xmlns:p14="http://schemas.microsoft.com/office/powerpoint/2010/main" val="997566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5BD90-32A8-5E01-E3ED-8DEC864582B5}"/>
              </a:ext>
            </a:extLst>
          </p:cNvPr>
          <p:cNvSpPr>
            <a:spLocks noGrp="1"/>
          </p:cNvSpPr>
          <p:nvPr>
            <p:ph type="title"/>
          </p:nvPr>
        </p:nvSpPr>
        <p:spPr/>
        <p:txBody>
          <a:bodyPr/>
          <a:lstStyle/>
          <a:p>
            <a:r>
              <a:rPr lang="en-IN" dirty="0"/>
              <a:t>System Features</a:t>
            </a:r>
          </a:p>
        </p:txBody>
      </p:sp>
      <p:sp>
        <p:nvSpPr>
          <p:cNvPr id="3" name="Content Placeholder 2">
            <a:extLst>
              <a:ext uri="{FF2B5EF4-FFF2-40B4-BE49-F238E27FC236}">
                <a16:creationId xmlns:a16="http://schemas.microsoft.com/office/drawing/2014/main" id="{7AF2E704-5B5C-E909-8858-EE4A648F8FFA}"/>
              </a:ext>
            </a:extLst>
          </p:cNvPr>
          <p:cNvSpPr>
            <a:spLocks noGrp="1"/>
          </p:cNvSpPr>
          <p:nvPr>
            <p:ph idx="1"/>
          </p:nvPr>
        </p:nvSpPr>
        <p:spPr/>
        <p:txBody>
          <a:bodyPr>
            <a:normAutofit fontScale="62500" lnSpcReduction="20000"/>
          </a:bodyPr>
          <a:lstStyle/>
          <a:p>
            <a:pPr>
              <a:buFont typeface="Courier New" panose="02070309020205020404" pitchFamily="49" charset="0"/>
              <a:buChar char="o"/>
            </a:pPr>
            <a:r>
              <a:rPr lang="en-IN" sz="2900" b="1" dirty="0"/>
              <a:t>Real-Time Library Map</a:t>
            </a:r>
          </a:p>
          <a:p>
            <a:r>
              <a:rPr lang="en-IN" sz="2400" dirty="0"/>
              <a:t>Displays desk status using </a:t>
            </a:r>
            <a:r>
              <a:rPr lang="en-IN" sz="2400" dirty="0" err="1"/>
              <a:t>color</a:t>
            </a:r>
            <a:r>
              <a:rPr lang="en-IN" sz="2400" dirty="0"/>
              <a:t> codes:</a:t>
            </a:r>
          </a:p>
          <a:p>
            <a:r>
              <a:rPr lang="en-IN" sz="2400" dirty="0"/>
              <a:t>Green – Available</a:t>
            </a:r>
          </a:p>
          <a:p>
            <a:r>
              <a:rPr lang="en-IN" sz="2400" dirty="0"/>
              <a:t>Red – Occupied</a:t>
            </a:r>
          </a:p>
          <a:p>
            <a:r>
              <a:rPr lang="en-IN" sz="2400" dirty="0"/>
              <a:t>Yellow – Away</a:t>
            </a:r>
          </a:p>
          <a:p>
            <a:r>
              <a:rPr lang="en-IN" sz="2400" dirty="0"/>
              <a:t>Gray – Abandoned</a:t>
            </a:r>
          </a:p>
          <a:p>
            <a:pPr>
              <a:buFont typeface="Courier New" panose="02070309020205020404" pitchFamily="49" charset="0"/>
              <a:buChar char="o"/>
            </a:pPr>
            <a:r>
              <a:rPr lang="en-IN" sz="2900" b="1" dirty="0"/>
              <a:t>QR Code Check-In</a:t>
            </a:r>
          </a:p>
          <a:p>
            <a:r>
              <a:rPr lang="en-IN" sz="2400" dirty="0"/>
              <a:t>Students can scan a QR code placed on the desk to begin their study session.</a:t>
            </a:r>
          </a:p>
          <a:p>
            <a:pPr>
              <a:buFont typeface="Courier New" panose="02070309020205020404" pitchFamily="49" charset="0"/>
              <a:buChar char="o"/>
            </a:pPr>
            <a:r>
              <a:rPr lang="en-IN" sz="2900" b="1" dirty="0"/>
              <a:t>Away Mode</a:t>
            </a:r>
          </a:p>
          <a:p>
            <a:r>
              <a:rPr lang="en-IN" sz="2400" dirty="0"/>
              <a:t>Students may temporarily leave their desk for a limited duration.</a:t>
            </a:r>
          </a:p>
          <a:p>
            <a:pPr>
              <a:buFont typeface="Courier New" panose="02070309020205020404" pitchFamily="49" charset="0"/>
              <a:buChar char="o"/>
            </a:pPr>
            <a:r>
              <a:rPr lang="en-IN" sz="2900" b="1" dirty="0"/>
              <a:t>Session Monitoring</a:t>
            </a:r>
          </a:p>
          <a:p>
            <a:r>
              <a:rPr lang="en-IN" sz="2400" dirty="0"/>
              <a:t>The system periodically confirms user presence and automatically frees abandoned desks.</a:t>
            </a:r>
          </a:p>
          <a:p>
            <a:pPr>
              <a:buFont typeface="Courier New" panose="02070309020205020404" pitchFamily="49" charset="0"/>
              <a:buChar char="o"/>
            </a:pPr>
            <a:r>
              <a:rPr lang="en-IN" sz="2900" b="1" dirty="0"/>
              <a:t>Librarian Dashboard</a:t>
            </a:r>
          </a:p>
          <a:p>
            <a:r>
              <a:rPr lang="en-IN" sz="2400" dirty="0"/>
              <a:t>Administrators can monitor desk usage and manually reset desks when necessary.</a:t>
            </a:r>
          </a:p>
          <a:p>
            <a:endParaRPr lang="en-IN" dirty="0"/>
          </a:p>
        </p:txBody>
      </p:sp>
    </p:spTree>
    <p:extLst>
      <p:ext uri="{BB962C8B-B14F-4D97-AF65-F5344CB8AC3E}">
        <p14:creationId xmlns:p14="http://schemas.microsoft.com/office/powerpoint/2010/main" val="421065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F402E-A2A9-9208-A3EC-8B7B2A1EFEFD}"/>
              </a:ext>
            </a:extLst>
          </p:cNvPr>
          <p:cNvSpPr>
            <a:spLocks noGrp="1"/>
          </p:cNvSpPr>
          <p:nvPr>
            <p:ph type="title"/>
          </p:nvPr>
        </p:nvSpPr>
        <p:spPr/>
        <p:txBody>
          <a:bodyPr/>
          <a:lstStyle/>
          <a:p>
            <a:r>
              <a:rPr lang="en-IN" b="1" dirty="0"/>
              <a:t>Screen 1 – Login Page</a:t>
            </a:r>
          </a:p>
        </p:txBody>
      </p:sp>
      <p:sp>
        <p:nvSpPr>
          <p:cNvPr id="4" name="Text Placeholder 3">
            <a:extLst>
              <a:ext uri="{FF2B5EF4-FFF2-40B4-BE49-F238E27FC236}">
                <a16:creationId xmlns:a16="http://schemas.microsoft.com/office/drawing/2014/main" id="{09AC93FC-2A76-C544-B91B-DDB56AA7CCCA}"/>
              </a:ext>
            </a:extLst>
          </p:cNvPr>
          <p:cNvSpPr>
            <a:spLocks noGrp="1"/>
          </p:cNvSpPr>
          <p:nvPr>
            <p:ph type="body" sz="half" idx="2"/>
          </p:nvPr>
        </p:nvSpPr>
        <p:spPr/>
        <p:txBody>
          <a:bodyPr/>
          <a:lstStyle/>
          <a:p>
            <a:r>
              <a:rPr lang="en-IN" dirty="0"/>
              <a:t>The Login Page allows students and librarians to securely access the </a:t>
            </a:r>
            <a:r>
              <a:rPr lang="en-IN" dirty="0" err="1"/>
              <a:t>DeskGuard</a:t>
            </a:r>
            <a:r>
              <a:rPr lang="en-IN" dirty="0"/>
              <a:t> system using their credentials.</a:t>
            </a:r>
          </a:p>
          <a:p>
            <a:r>
              <a:rPr lang="en-IN" b="1" dirty="0"/>
              <a:t>Features</a:t>
            </a:r>
          </a:p>
          <a:p>
            <a:r>
              <a:rPr lang="en-IN" dirty="0"/>
              <a:t>Email field</a:t>
            </a:r>
          </a:p>
          <a:p>
            <a:r>
              <a:rPr lang="en-IN" dirty="0"/>
              <a:t>Password field</a:t>
            </a:r>
          </a:p>
          <a:p>
            <a:r>
              <a:rPr lang="en-IN" dirty="0"/>
              <a:t>Login button</a:t>
            </a:r>
          </a:p>
          <a:p>
            <a:r>
              <a:rPr lang="en-IN" dirty="0"/>
              <a:t>Forgot Password option</a:t>
            </a:r>
          </a:p>
          <a:p>
            <a:r>
              <a:rPr lang="en-IN" dirty="0"/>
              <a:t>Register option</a:t>
            </a:r>
          </a:p>
          <a:p>
            <a:r>
              <a:rPr lang="en-IN" b="1" dirty="0"/>
              <a:t>Purpose</a:t>
            </a:r>
          </a:p>
          <a:p>
            <a:r>
              <a:rPr lang="en-IN" dirty="0"/>
              <a:t>Provides secure authentication for users and administrators.</a:t>
            </a:r>
          </a:p>
          <a:p>
            <a:endParaRPr lang="en-IN" dirty="0"/>
          </a:p>
        </p:txBody>
      </p:sp>
      <p:pic>
        <p:nvPicPr>
          <p:cNvPr id="14" name="Picture Placeholder 13">
            <a:extLst>
              <a:ext uri="{FF2B5EF4-FFF2-40B4-BE49-F238E27FC236}">
                <a16:creationId xmlns:a16="http://schemas.microsoft.com/office/drawing/2014/main" id="{C82EA49D-257C-6BFF-FA93-D8FD2E39954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6124" t="14135" r="-34" b="159"/>
          <a:stretch>
            <a:fillRect/>
          </a:stretch>
        </p:blipFill>
        <p:spPr>
          <a:xfrm>
            <a:off x="4772025" y="1361661"/>
            <a:ext cx="7419975" cy="4290667"/>
          </a:xfrm>
          <a:prstGeom prst="rect">
            <a:avLst/>
          </a:prstGeom>
        </p:spPr>
      </p:pic>
    </p:spTree>
    <p:extLst>
      <p:ext uri="{BB962C8B-B14F-4D97-AF65-F5344CB8AC3E}">
        <p14:creationId xmlns:p14="http://schemas.microsoft.com/office/powerpoint/2010/main" val="1925304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1AF6A-51F4-6012-CF1B-5A5FCC4967FD}"/>
              </a:ext>
            </a:extLst>
          </p:cNvPr>
          <p:cNvSpPr>
            <a:spLocks noGrp="1"/>
          </p:cNvSpPr>
          <p:nvPr>
            <p:ph type="title"/>
          </p:nvPr>
        </p:nvSpPr>
        <p:spPr/>
        <p:txBody>
          <a:bodyPr/>
          <a:lstStyle/>
          <a:p>
            <a:r>
              <a:rPr lang="en-IN" b="1" dirty="0"/>
              <a:t>Screen 2 – Student Dashboard</a:t>
            </a:r>
          </a:p>
        </p:txBody>
      </p:sp>
      <p:sp>
        <p:nvSpPr>
          <p:cNvPr id="4" name="Text Placeholder 3">
            <a:extLst>
              <a:ext uri="{FF2B5EF4-FFF2-40B4-BE49-F238E27FC236}">
                <a16:creationId xmlns:a16="http://schemas.microsoft.com/office/drawing/2014/main" id="{95D5FE27-B58C-757E-4295-CEFB8ABAACE9}"/>
              </a:ext>
            </a:extLst>
          </p:cNvPr>
          <p:cNvSpPr>
            <a:spLocks noGrp="1"/>
          </p:cNvSpPr>
          <p:nvPr>
            <p:ph type="body" sz="half" idx="2"/>
          </p:nvPr>
        </p:nvSpPr>
        <p:spPr/>
        <p:txBody>
          <a:bodyPr>
            <a:normAutofit fontScale="92500" lnSpcReduction="20000"/>
          </a:bodyPr>
          <a:lstStyle/>
          <a:p>
            <a:r>
              <a:rPr lang="en-IN" b="1" dirty="0"/>
              <a:t>Description</a:t>
            </a:r>
          </a:p>
          <a:p>
            <a:r>
              <a:rPr lang="en-IN" dirty="0"/>
              <a:t>The Student Dashboard provides an overview of library desk statistics and quick access to important functions.</a:t>
            </a:r>
          </a:p>
          <a:p>
            <a:r>
              <a:rPr lang="en-IN" b="1" dirty="0"/>
              <a:t>Features</a:t>
            </a:r>
          </a:p>
          <a:p>
            <a:r>
              <a:rPr lang="en-IN" dirty="0"/>
              <a:t>Total Desks</a:t>
            </a:r>
          </a:p>
          <a:p>
            <a:r>
              <a:rPr lang="en-IN" dirty="0"/>
              <a:t>Available Desks</a:t>
            </a:r>
          </a:p>
          <a:p>
            <a:r>
              <a:rPr lang="en-IN" dirty="0"/>
              <a:t>Occupied Desks</a:t>
            </a:r>
          </a:p>
          <a:p>
            <a:r>
              <a:rPr lang="en-IN" dirty="0"/>
              <a:t>Away Desks</a:t>
            </a:r>
          </a:p>
          <a:p>
            <a:r>
              <a:rPr lang="en-IN" dirty="0"/>
              <a:t>Quick navigation options</a:t>
            </a:r>
          </a:p>
          <a:p>
            <a:r>
              <a:rPr lang="en-IN" dirty="0"/>
              <a:t>Recent activity information</a:t>
            </a:r>
          </a:p>
          <a:p>
            <a:r>
              <a:rPr lang="en-IN" b="1" dirty="0"/>
              <a:t>Purpose</a:t>
            </a:r>
          </a:p>
          <a:p>
            <a:r>
              <a:rPr lang="en-IN" dirty="0"/>
              <a:t>Allows students to monitor desk availability and manage their sessions efficiently.</a:t>
            </a:r>
          </a:p>
          <a:p>
            <a:endParaRPr lang="en-IN" dirty="0"/>
          </a:p>
        </p:txBody>
      </p:sp>
      <p:pic>
        <p:nvPicPr>
          <p:cNvPr id="10" name="Content Placeholder 9">
            <a:extLst>
              <a:ext uri="{FF2B5EF4-FFF2-40B4-BE49-F238E27FC236}">
                <a16:creationId xmlns:a16="http://schemas.microsoft.com/office/drawing/2014/main" id="{86EB9C48-C4B1-3E5D-0CA9-0C9CFFC450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778937"/>
            <a:ext cx="6172200" cy="3290600"/>
          </a:xfrm>
          <a:prstGeom prst="rect">
            <a:avLst/>
          </a:prstGeom>
        </p:spPr>
      </p:pic>
    </p:spTree>
    <p:extLst>
      <p:ext uri="{BB962C8B-B14F-4D97-AF65-F5344CB8AC3E}">
        <p14:creationId xmlns:p14="http://schemas.microsoft.com/office/powerpoint/2010/main" val="1712259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169B6-113B-B1AA-6512-9933726682A4}"/>
              </a:ext>
            </a:extLst>
          </p:cNvPr>
          <p:cNvSpPr>
            <a:spLocks noGrp="1"/>
          </p:cNvSpPr>
          <p:nvPr>
            <p:ph type="title"/>
          </p:nvPr>
        </p:nvSpPr>
        <p:spPr/>
        <p:txBody>
          <a:bodyPr/>
          <a:lstStyle/>
          <a:p>
            <a:r>
              <a:rPr lang="en-IN" b="1" dirty="0"/>
              <a:t>Screen 3 – Live Library Map</a:t>
            </a:r>
            <a:br>
              <a:rPr lang="en-IN" b="1" dirty="0"/>
            </a:br>
            <a:endParaRPr lang="en-IN" dirty="0"/>
          </a:p>
        </p:txBody>
      </p:sp>
      <p:pic>
        <p:nvPicPr>
          <p:cNvPr id="6" name="Content Placeholder 5">
            <a:extLst>
              <a:ext uri="{FF2B5EF4-FFF2-40B4-BE49-F238E27FC236}">
                <a16:creationId xmlns:a16="http://schemas.microsoft.com/office/drawing/2014/main" id="{90FD86D4-F20D-9B9F-A364-E4EE3191C3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685865"/>
            <a:ext cx="6172200" cy="3476745"/>
          </a:xfrm>
          <a:prstGeom prst="rect">
            <a:avLst/>
          </a:prstGeom>
        </p:spPr>
      </p:pic>
      <p:sp>
        <p:nvSpPr>
          <p:cNvPr id="4" name="Text Placeholder 3">
            <a:extLst>
              <a:ext uri="{FF2B5EF4-FFF2-40B4-BE49-F238E27FC236}">
                <a16:creationId xmlns:a16="http://schemas.microsoft.com/office/drawing/2014/main" id="{59537383-E312-F040-7650-384B14C314F7}"/>
              </a:ext>
            </a:extLst>
          </p:cNvPr>
          <p:cNvSpPr>
            <a:spLocks noGrp="1"/>
          </p:cNvSpPr>
          <p:nvPr>
            <p:ph type="body" sz="half" idx="2"/>
          </p:nvPr>
        </p:nvSpPr>
        <p:spPr>
          <a:xfrm>
            <a:off x="839788" y="1685865"/>
            <a:ext cx="3932237" cy="4555909"/>
          </a:xfrm>
        </p:spPr>
        <p:txBody>
          <a:bodyPr>
            <a:normAutofit fontScale="40000" lnSpcReduction="20000"/>
          </a:bodyPr>
          <a:lstStyle/>
          <a:p>
            <a:r>
              <a:rPr lang="en-IN" sz="4000" b="1" dirty="0"/>
              <a:t>Description</a:t>
            </a:r>
          </a:p>
          <a:p>
            <a:r>
              <a:rPr lang="en-IN" sz="4000" dirty="0"/>
              <a:t>The Live Library Map visually displays the status of every desk in the library.</a:t>
            </a:r>
          </a:p>
          <a:p>
            <a:r>
              <a:rPr lang="en-IN" sz="4000" b="1" dirty="0" err="1"/>
              <a:t>Color</a:t>
            </a:r>
            <a:r>
              <a:rPr lang="en-IN" sz="4000" b="1" dirty="0"/>
              <a:t> Codes</a:t>
            </a:r>
          </a:p>
          <a:p>
            <a:r>
              <a:rPr lang="en-IN" sz="4000" dirty="0"/>
              <a:t>Green – Available</a:t>
            </a:r>
          </a:p>
          <a:p>
            <a:r>
              <a:rPr lang="en-IN" sz="4000" dirty="0"/>
              <a:t>Red – Occupied</a:t>
            </a:r>
          </a:p>
          <a:p>
            <a:r>
              <a:rPr lang="en-IN" sz="4000" dirty="0"/>
              <a:t>Yellow – Away</a:t>
            </a:r>
          </a:p>
          <a:p>
            <a:r>
              <a:rPr lang="en-IN" sz="4000" dirty="0"/>
              <a:t>Gray – Abandoned</a:t>
            </a:r>
          </a:p>
          <a:p>
            <a:r>
              <a:rPr lang="en-IN" sz="4000" b="1" dirty="0"/>
              <a:t>Features</a:t>
            </a:r>
          </a:p>
          <a:p>
            <a:r>
              <a:rPr lang="en-IN" sz="4000" dirty="0"/>
              <a:t>Interactive desk layout</a:t>
            </a:r>
          </a:p>
          <a:p>
            <a:r>
              <a:rPr lang="en-IN" sz="4000" dirty="0"/>
              <a:t>Search functionality</a:t>
            </a:r>
          </a:p>
          <a:p>
            <a:r>
              <a:rPr lang="en-IN" sz="4000" dirty="0"/>
              <a:t>Status filtering</a:t>
            </a:r>
          </a:p>
          <a:p>
            <a:r>
              <a:rPr lang="en-IN" sz="4000" dirty="0"/>
              <a:t>Real-time visualization</a:t>
            </a:r>
          </a:p>
          <a:p>
            <a:r>
              <a:rPr lang="en-IN" sz="4000" b="1" dirty="0"/>
              <a:t>Purpose</a:t>
            </a:r>
          </a:p>
          <a:p>
            <a:r>
              <a:rPr lang="en-IN" sz="4000" dirty="0"/>
              <a:t>Enables students to quickly locate available study spaces.</a:t>
            </a:r>
          </a:p>
          <a:p>
            <a:endParaRPr lang="en-IN" dirty="0"/>
          </a:p>
        </p:txBody>
      </p:sp>
    </p:spTree>
    <p:extLst>
      <p:ext uri="{BB962C8B-B14F-4D97-AF65-F5344CB8AC3E}">
        <p14:creationId xmlns:p14="http://schemas.microsoft.com/office/powerpoint/2010/main" val="2856638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85E6E-C0E6-576F-30AF-F4C0652CFAF0}"/>
              </a:ext>
            </a:extLst>
          </p:cNvPr>
          <p:cNvSpPr>
            <a:spLocks noGrp="1"/>
          </p:cNvSpPr>
          <p:nvPr>
            <p:ph type="title"/>
          </p:nvPr>
        </p:nvSpPr>
        <p:spPr/>
        <p:txBody>
          <a:bodyPr/>
          <a:lstStyle/>
          <a:p>
            <a:r>
              <a:rPr lang="en-IN" b="1" dirty="0"/>
              <a:t>Screen 4 – librarian dashboard </a:t>
            </a:r>
            <a:br>
              <a:rPr lang="en-IN" b="1" dirty="0"/>
            </a:br>
            <a:endParaRPr lang="en-IN" dirty="0"/>
          </a:p>
        </p:txBody>
      </p:sp>
      <p:pic>
        <p:nvPicPr>
          <p:cNvPr id="6" name="Content Placeholder 5">
            <a:extLst>
              <a:ext uri="{FF2B5EF4-FFF2-40B4-BE49-F238E27FC236}">
                <a16:creationId xmlns:a16="http://schemas.microsoft.com/office/drawing/2014/main" id="{52CD3F75-88E5-C135-31BD-ACB29767DC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83188" y="1745174"/>
            <a:ext cx="6172200" cy="3358127"/>
          </a:xfrm>
          <a:prstGeom prst="rect">
            <a:avLst/>
          </a:prstGeom>
        </p:spPr>
      </p:pic>
      <p:sp>
        <p:nvSpPr>
          <p:cNvPr id="4" name="Text Placeholder 3">
            <a:extLst>
              <a:ext uri="{FF2B5EF4-FFF2-40B4-BE49-F238E27FC236}">
                <a16:creationId xmlns:a16="http://schemas.microsoft.com/office/drawing/2014/main" id="{E94818BF-82D4-4A0D-3296-DD47623DF7DC}"/>
              </a:ext>
            </a:extLst>
          </p:cNvPr>
          <p:cNvSpPr>
            <a:spLocks noGrp="1"/>
          </p:cNvSpPr>
          <p:nvPr>
            <p:ph type="body" sz="half" idx="2"/>
          </p:nvPr>
        </p:nvSpPr>
        <p:spPr>
          <a:xfrm>
            <a:off x="690701" y="1745174"/>
            <a:ext cx="3932237" cy="4456843"/>
          </a:xfrm>
        </p:spPr>
        <p:txBody>
          <a:bodyPr>
            <a:normAutofit fontScale="77500" lnSpcReduction="20000"/>
          </a:bodyPr>
          <a:lstStyle/>
          <a:p>
            <a:r>
              <a:rPr lang="en-IN" sz="2100" b="1" dirty="0"/>
              <a:t>Description</a:t>
            </a:r>
          </a:p>
          <a:p>
            <a:r>
              <a:rPr lang="en-IN" sz="2100" dirty="0"/>
              <a:t>When a desk is selected, detailed information regarding that desk is displayed.</a:t>
            </a:r>
          </a:p>
          <a:p>
            <a:r>
              <a:rPr lang="en-IN" sz="2100" b="1" dirty="0"/>
              <a:t>Features</a:t>
            </a:r>
          </a:p>
          <a:p>
            <a:r>
              <a:rPr lang="en-IN" sz="2100" dirty="0"/>
              <a:t>Desk Number</a:t>
            </a:r>
          </a:p>
          <a:p>
            <a:r>
              <a:rPr lang="en-IN" sz="2100" dirty="0"/>
              <a:t>Current Status</a:t>
            </a:r>
          </a:p>
          <a:p>
            <a:r>
              <a:rPr lang="en-IN" sz="2100" dirty="0"/>
              <a:t>Occupant Information</a:t>
            </a:r>
          </a:p>
          <a:p>
            <a:r>
              <a:rPr lang="en-IN" sz="2100" dirty="0"/>
              <a:t>Check-In Time</a:t>
            </a:r>
          </a:p>
          <a:p>
            <a:r>
              <a:rPr lang="en-IN" sz="2100" dirty="0"/>
              <a:t>Session Duration</a:t>
            </a:r>
          </a:p>
          <a:p>
            <a:r>
              <a:rPr lang="en-IN" sz="2100" dirty="0"/>
              <a:t>Occupy Button</a:t>
            </a:r>
          </a:p>
          <a:p>
            <a:r>
              <a:rPr lang="en-IN" sz="2100" dirty="0"/>
              <a:t>Away Button</a:t>
            </a:r>
          </a:p>
          <a:p>
            <a:r>
              <a:rPr lang="en-IN" sz="2100" dirty="0"/>
              <a:t>Release Button</a:t>
            </a:r>
          </a:p>
          <a:p>
            <a:r>
              <a:rPr lang="en-IN" sz="2100" b="1" dirty="0"/>
              <a:t>Purpose</a:t>
            </a:r>
          </a:p>
          <a:p>
            <a:r>
              <a:rPr lang="en-IN" sz="2100" dirty="0"/>
              <a:t>Allows librarian  to manage desk sessions efficiently.</a:t>
            </a:r>
          </a:p>
          <a:p>
            <a:endParaRPr lang="en-IN" dirty="0"/>
          </a:p>
        </p:txBody>
      </p:sp>
    </p:spTree>
    <p:extLst>
      <p:ext uri="{BB962C8B-B14F-4D97-AF65-F5344CB8AC3E}">
        <p14:creationId xmlns:p14="http://schemas.microsoft.com/office/powerpoint/2010/main" val="1346556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F158C-542D-E8AC-31B4-C00588947F75}"/>
              </a:ext>
            </a:extLst>
          </p:cNvPr>
          <p:cNvSpPr>
            <a:spLocks noGrp="1"/>
          </p:cNvSpPr>
          <p:nvPr>
            <p:ph type="title"/>
          </p:nvPr>
        </p:nvSpPr>
        <p:spPr/>
        <p:txBody>
          <a:bodyPr/>
          <a:lstStyle/>
          <a:p>
            <a:r>
              <a:rPr lang="en-IN" b="1" dirty="0"/>
              <a:t>Screen 5 – QR Scanner Page</a:t>
            </a:r>
            <a:br>
              <a:rPr lang="en-IN" b="1" dirty="0"/>
            </a:br>
            <a:endParaRPr lang="en-IN" dirty="0"/>
          </a:p>
        </p:txBody>
      </p:sp>
      <p:pic>
        <p:nvPicPr>
          <p:cNvPr id="6" name="Content Placeholder 5">
            <a:extLst>
              <a:ext uri="{FF2B5EF4-FFF2-40B4-BE49-F238E27FC236}">
                <a16:creationId xmlns:a16="http://schemas.microsoft.com/office/drawing/2014/main" id="{CB9A12CC-FFF2-2A68-F0BC-AC85D22371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2025" y="1093303"/>
            <a:ext cx="7135053" cy="4552123"/>
          </a:xfrm>
          <a:prstGeom prst="rect">
            <a:avLst/>
          </a:prstGeom>
        </p:spPr>
      </p:pic>
      <p:sp>
        <p:nvSpPr>
          <p:cNvPr id="4" name="Text Placeholder 3">
            <a:extLst>
              <a:ext uri="{FF2B5EF4-FFF2-40B4-BE49-F238E27FC236}">
                <a16:creationId xmlns:a16="http://schemas.microsoft.com/office/drawing/2014/main" id="{344872C7-85A9-DD1B-EC73-24A15B51A342}"/>
              </a:ext>
            </a:extLst>
          </p:cNvPr>
          <p:cNvSpPr>
            <a:spLocks noGrp="1"/>
          </p:cNvSpPr>
          <p:nvPr>
            <p:ph type="body" sz="half" idx="2"/>
          </p:nvPr>
        </p:nvSpPr>
        <p:spPr/>
        <p:txBody>
          <a:bodyPr/>
          <a:lstStyle/>
          <a:p>
            <a:r>
              <a:rPr lang="en-IN" b="1" dirty="0"/>
              <a:t>Description</a:t>
            </a:r>
          </a:p>
          <a:p>
            <a:r>
              <a:rPr lang="en-IN" dirty="0"/>
              <a:t>Students can scan desk QR codes to start a study session.</a:t>
            </a:r>
          </a:p>
          <a:p>
            <a:r>
              <a:rPr lang="en-IN" b="1" dirty="0"/>
              <a:t>Features</a:t>
            </a:r>
          </a:p>
          <a:p>
            <a:r>
              <a:rPr lang="en-IN" dirty="0"/>
              <a:t>QR Scanner Interface</a:t>
            </a:r>
          </a:p>
          <a:p>
            <a:r>
              <a:rPr lang="en-IN" dirty="0"/>
              <a:t>Scan Button</a:t>
            </a:r>
          </a:p>
          <a:p>
            <a:r>
              <a:rPr lang="en-IN" dirty="0"/>
              <a:t>Desk Identification</a:t>
            </a:r>
          </a:p>
          <a:p>
            <a:r>
              <a:rPr lang="en-IN" dirty="0"/>
              <a:t>Desk Availability Status</a:t>
            </a:r>
          </a:p>
          <a:p>
            <a:r>
              <a:rPr lang="en-IN" b="1" dirty="0"/>
              <a:t>Purpose</a:t>
            </a:r>
          </a:p>
          <a:p>
            <a:r>
              <a:rPr lang="en-IN" dirty="0"/>
              <a:t>Provides a quick and contactless desk reservation process.</a:t>
            </a:r>
          </a:p>
          <a:p>
            <a:endParaRPr lang="en-IN" dirty="0"/>
          </a:p>
        </p:txBody>
      </p:sp>
    </p:spTree>
    <p:extLst>
      <p:ext uri="{BB962C8B-B14F-4D97-AF65-F5344CB8AC3E}">
        <p14:creationId xmlns:p14="http://schemas.microsoft.com/office/powerpoint/2010/main" val="204527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36A27F-71DD-AA16-C029-C0288C1EA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430945" cy="3014504"/>
          </a:xfrm>
          <a:prstGeom prst="rect">
            <a:avLst/>
          </a:prstGeom>
        </p:spPr>
      </p:pic>
      <p:pic>
        <p:nvPicPr>
          <p:cNvPr id="12" name="Picture 11">
            <a:extLst>
              <a:ext uri="{FF2B5EF4-FFF2-40B4-BE49-F238E27FC236}">
                <a16:creationId xmlns:a16="http://schemas.microsoft.com/office/drawing/2014/main" id="{71FF86C5-FACF-0466-CA14-D27181193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2655" y="3014504"/>
            <a:ext cx="6887818" cy="3773157"/>
          </a:xfrm>
          <a:prstGeom prst="rect">
            <a:avLst/>
          </a:prstGeom>
        </p:spPr>
      </p:pic>
    </p:spTree>
    <p:extLst>
      <p:ext uri="{BB962C8B-B14F-4D97-AF65-F5344CB8AC3E}">
        <p14:creationId xmlns:p14="http://schemas.microsoft.com/office/powerpoint/2010/main" val="3873078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977D4-E5BE-FA86-9944-6C7E6BEE6567}"/>
              </a:ext>
            </a:extLst>
          </p:cNvPr>
          <p:cNvSpPr>
            <a:spLocks noGrp="1"/>
          </p:cNvSpPr>
          <p:nvPr>
            <p:ph type="title"/>
          </p:nvPr>
        </p:nvSpPr>
        <p:spPr/>
        <p:txBody>
          <a:bodyPr/>
          <a:lstStyle/>
          <a:p>
            <a:r>
              <a:rPr lang="en-IN" dirty="0"/>
              <a:t>Advantages &amp; Future Scope of </a:t>
            </a:r>
            <a:r>
              <a:rPr lang="en-IN" dirty="0" err="1"/>
              <a:t>DeskGuard</a:t>
            </a:r>
            <a:endParaRPr lang="en-IN" dirty="0"/>
          </a:p>
        </p:txBody>
      </p:sp>
      <p:sp>
        <p:nvSpPr>
          <p:cNvPr id="3" name="Content Placeholder 2">
            <a:extLst>
              <a:ext uri="{FF2B5EF4-FFF2-40B4-BE49-F238E27FC236}">
                <a16:creationId xmlns:a16="http://schemas.microsoft.com/office/drawing/2014/main" id="{0CBA410F-A09D-C026-7104-A2976009F358}"/>
              </a:ext>
            </a:extLst>
          </p:cNvPr>
          <p:cNvSpPr>
            <a:spLocks noGrp="1"/>
          </p:cNvSpPr>
          <p:nvPr>
            <p:ph idx="1"/>
          </p:nvPr>
        </p:nvSpPr>
        <p:spPr>
          <a:xfrm>
            <a:off x="838200" y="1825624"/>
            <a:ext cx="10515600" cy="4873349"/>
          </a:xfrm>
        </p:spPr>
        <p:txBody>
          <a:bodyPr>
            <a:normAutofit fontScale="47500" lnSpcReduction="20000"/>
          </a:bodyPr>
          <a:lstStyle/>
          <a:p>
            <a:r>
              <a:rPr lang="en-IN" sz="2900" dirty="0"/>
              <a:t>prevents desk hoarding.</a:t>
            </a:r>
          </a:p>
          <a:p>
            <a:r>
              <a:rPr lang="en-IN" sz="2900" dirty="0"/>
              <a:t>Ensures fair seat allocation.</a:t>
            </a:r>
          </a:p>
          <a:p>
            <a:r>
              <a:rPr lang="en-IN" sz="2900" dirty="0"/>
              <a:t>Improves library space utilization.</a:t>
            </a:r>
          </a:p>
          <a:p>
            <a:r>
              <a:rPr lang="en-IN" sz="2900" dirty="0"/>
              <a:t>Provides real-time monitoring.</a:t>
            </a:r>
          </a:p>
          <a:p>
            <a:r>
              <a:rPr lang="en-IN" sz="2900" dirty="0"/>
              <a:t>Reduces manual supervision effort.</a:t>
            </a:r>
          </a:p>
          <a:p>
            <a:r>
              <a:rPr lang="en-IN" sz="2900" dirty="0"/>
              <a:t>Enhances student experience.</a:t>
            </a:r>
          </a:p>
          <a:p>
            <a:r>
              <a:rPr lang="en-IN" sz="2900" dirty="0"/>
              <a:t>Supports efficient library management.</a:t>
            </a:r>
            <a:br>
              <a:rPr lang="en-IN" sz="2900" dirty="0"/>
            </a:br>
            <a:endParaRPr lang="en-IN" sz="2900" dirty="0"/>
          </a:p>
          <a:p>
            <a:r>
              <a:rPr lang="en-IN" sz="2900" b="1" dirty="0"/>
              <a:t>Future Scope</a:t>
            </a:r>
          </a:p>
          <a:p>
            <a:r>
              <a:rPr lang="en-IN" sz="2900" dirty="0"/>
              <a:t>Mobile Application Support</a:t>
            </a:r>
          </a:p>
          <a:p>
            <a:r>
              <a:rPr lang="en-IN" sz="2900" dirty="0"/>
              <a:t>AI-Based Crowd Prediction</a:t>
            </a:r>
          </a:p>
          <a:p>
            <a:r>
              <a:rPr lang="en-IN" sz="2900" dirty="0"/>
              <a:t>Occupancy Analytics Dashboard</a:t>
            </a:r>
          </a:p>
          <a:p>
            <a:r>
              <a:rPr lang="en-IN" sz="2900" dirty="0"/>
              <a:t>Email and Notification Alerts</a:t>
            </a:r>
          </a:p>
          <a:p>
            <a:r>
              <a:rPr lang="en-IN" sz="2900" dirty="0"/>
              <a:t>Heatmap-Based Seat Usage Analysis</a:t>
            </a:r>
          </a:p>
          <a:p>
            <a:r>
              <a:rPr lang="en-IN" sz="2900" dirty="0"/>
              <a:t>Integration with Student ID Cards</a:t>
            </a:r>
          </a:p>
          <a:p>
            <a:pPr>
              <a:buFont typeface="Courier New" panose="02070309020205020404" pitchFamily="49" charset="0"/>
              <a:buChar char="o"/>
            </a:pPr>
            <a:r>
              <a:rPr lang="en-IN" sz="2900" dirty="0"/>
              <a:t>Prototype link</a:t>
            </a:r>
          </a:p>
          <a:p>
            <a:pPr>
              <a:buFont typeface="Courier New" panose="02070309020205020404" pitchFamily="49" charset="0"/>
              <a:buChar char="o"/>
            </a:pPr>
            <a:r>
              <a:rPr lang="en-IN" sz="2900" dirty="0">
                <a:hlinkClick r:id="rId2"/>
              </a:rPr>
              <a:t>https://www.figma.com/make/q3V0np8NeIF1amnQLNtcVe/DeskGuard-UI-Prototype?t=qija61A24eOdUI9S-1</a:t>
            </a:r>
            <a:endParaRPr lang="en-IN" sz="2900" dirty="0"/>
          </a:p>
        </p:txBody>
      </p:sp>
    </p:spTree>
    <p:extLst>
      <p:ext uri="{BB962C8B-B14F-4D97-AF65-F5344CB8AC3E}">
        <p14:creationId xmlns:p14="http://schemas.microsoft.com/office/powerpoint/2010/main" val="3642381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